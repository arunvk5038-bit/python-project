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type="screen16x9" cy="51435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13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1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1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1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1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0" y="0"/>
          <a:ext cx="9144000" cy="5140325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5140325">
                <a:tc>
                  <a:txBody>
                    <a:bodyPr/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790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692150" rtl="0">
                        <a:lnSpc>
                          <a:spcPct val="80000"/>
                        </a:lnSpc>
                      </a:pPr>
                      <a:r>
                        <a:rPr b="1" dirty="0" sz="24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Department of</a:t>
                      </a:r>
                      <a:r>
                        <a:rPr b="1" dirty="0" sz="2400" kern="0" spc="-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b="1" dirty="0" sz="24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Electronics </a:t>
                      </a:r>
                      <a:r>
                        <a:rPr b="1" dirty="0" sz="2400" kern="0" lang="en-IN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Communication Engineering</a:t>
                      </a:r>
                      <a:endParaRPr dirty="0" sz="2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1481455" rtl="0">
                        <a:lnSpc>
                          <a:spcPct val="80000"/>
                        </a:lnSpc>
                        <a:spcBef>
                          <a:spcPts val="680"/>
                        </a:spcBef>
                      </a:pPr>
                      <a:r>
                        <a:rPr b="1" dirty="0" sz="2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</a:t>
                      </a:r>
                      <a:r>
                        <a:rPr b="1" dirty="0" sz="24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b="1" dirty="0" sz="2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Year</a:t>
                      </a:r>
                      <a:r>
                        <a:rPr b="1" dirty="0" sz="24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 2024 – 2025 (</a:t>
                      </a:r>
                      <a:r>
                        <a:rPr b="1" dirty="0" sz="2400" kern="0" lang="en-IN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b="1" dirty="0" sz="2400" kern="0" spc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ven</a:t>
                      </a:r>
                      <a:r>
                        <a:rPr b="1" dirty="0" sz="24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b="1" dirty="0" sz="2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Semester</a:t>
                      </a:r>
                      <a:r>
                        <a:rPr b="1" dirty="0" sz="24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dirty="0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rtl="0">
                        <a:lnSpc>
                          <a:spcPct val="12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25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27635" rtl="0">
                        <a:lnSpc>
                          <a:spcPct val="80000"/>
                        </a:lnSpc>
                        <a:spcBef>
                          <a:spcPts val="731"/>
                        </a:spcBef>
                      </a:pPr>
                      <a:r>
                        <a:rPr b="1" dirty="0" sz="2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Register</a:t>
                      </a:r>
                      <a:r>
                        <a:rPr b="1" dirty="0" sz="24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b="1" dirty="0" sz="2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</a:t>
                      </a:r>
                      <a:r>
                        <a:rPr b="1" dirty="0" sz="2400" kern="0" spc="9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</a:t>
                      </a:r>
                      <a:r>
                        <a:rPr b="1" dirty="0" sz="24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:927624</a:t>
                      </a:r>
                      <a:r>
                        <a:rPr b="1" dirty="0" sz="2400" kern="0" lang="en-IN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BEC017</a:t>
                      </a:r>
                      <a:endParaRPr dirty="0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125729" rtl="0">
                        <a:lnSpc>
                          <a:spcPct val="79000"/>
                        </a:lnSpc>
                        <a:spcBef>
                          <a:spcPts val="705"/>
                        </a:spcBef>
                      </a:pPr>
                      <a:r>
                        <a:rPr b="1" dirty="0" sz="2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Name</a:t>
                      </a:r>
                      <a:r>
                        <a:rPr b="1" dirty="0" sz="24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</a:t>
                      </a:r>
                      <a:r>
                        <a:rPr b="1" dirty="0" sz="24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</a:t>
                      </a:r>
                      <a:r>
                        <a:rPr b="1" dirty="0" sz="2400" kern="0" lang="en-IN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K.ARUN</a:t>
                      </a:r>
                      <a:endParaRPr dirty="0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124460" rtl="0">
                        <a:lnSpc>
                          <a:spcPct val="78000"/>
                        </a:lnSpc>
                        <a:spcBef>
                          <a:spcPts val="755"/>
                        </a:spcBef>
                      </a:pPr>
                      <a:r>
                        <a:rPr b="1" dirty="0" sz="24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Year             </a:t>
                      </a:r>
                      <a:r>
                        <a:rPr b="1" dirty="0" sz="24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:</a:t>
                      </a:r>
                      <a:r>
                        <a:rPr b="1" dirty="0" sz="24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b="1" dirty="0" sz="2400" kern="0" lang="en-IN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dirty="0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137795" rtl="0">
                        <a:lnSpc>
                          <a:spcPct val="80000"/>
                        </a:lnSpc>
                        <a:spcBef>
                          <a:spcPts val="697"/>
                        </a:spcBef>
                      </a:pPr>
                      <a:r>
                        <a:rPr b="1" dirty="0" sz="2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Semester</a:t>
                      </a:r>
                      <a:r>
                        <a:rPr b="1" dirty="0" sz="2400" kern="0" spc="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</a:t>
                      </a:r>
                      <a:r>
                        <a:rPr b="1" dirty="0" sz="2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</a:t>
                      </a:r>
                      <a:r>
                        <a:rPr b="1" dirty="0" sz="24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 </a:t>
                      </a:r>
                      <a:r>
                        <a:rPr b="1" dirty="0" sz="2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II</a:t>
                      </a:r>
                      <a:endParaRPr dirty="0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137795" rtl="0">
                        <a:lnSpc>
                          <a:spcPct val="80000"/>
                        </a:lnSpc>
                        <a:spcBef>
                          <a:spcPts val="696"/>
                        </a:spcBef>
                      </a:pPr>
                      <a:r>
                        <a:rPr b="1" dirty="0" sz="24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Section</a:t>
                      </a:r>
                      <a:r>
                        <a:rPr b="1" dirty="0" sz="24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</a:t>
                      </a:r>
                      <a:r>
                        <a:rPr b="1" dirty="0" sz="2400" kern="0" spc="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: </a:t>
                      </a:r>
                      <a:r>
                        <a:rPr altLang="en-IN" b="1" dirty="0" sz="2400" kern="0" lang="en-US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altLang="en-US" lang="zh-CN"/>
                    </a:p>
                    <a:p>
                      <a:pPr algn="l" eaLnBrk="0" marL="125729" rtl="0">
                        <a:lnSpc>
                          <a:spcPts val="3049"/>
                        </a:lnSpc>
                        <a:spcBef>
                          <a:spcPts val="713"/>
                        </a:spcBef>
                        <a:tabLst>
                          <a:tab algn="l" pos="8686800"/>
                        </a:tabLst>
                      </a:pPr>
                      <a:r>
                        <a:rPr b="1" sz="2400" kern="0" lang="en-IN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</a:t>
                      </a:r>
                      <a:r>
                        <a:rPr b="1" sz="2400" kern="0" lang="en-IN" spc="0" strike="sng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</a:t>
                      </a:r>
                      <a:r>
                        <a:rPr baseline="-58527" sz="2100" kern="0" lang="en-IN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                                         </a:t>
                      </a:r>
                      <a:r>
                        <a:rPr b="1" sz="2400" kern="0" lang="en-IN" spc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</a:t>
                      </a:r>
                      <a:r>
                        <a:rPr b="1" dirty="0" sz="2400" kern="0" lang="en-IN" spc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11.06.2025</a:t>
                      </a:r>
                      <a:endParaRPr dirty="0" sz="2400" lang="en-IN" strike="noStrik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5" name="table 4"/>
          <p:cNvGraphicFramePr>
            <a:graphicFrameLocks noGrp="1"/>
          </p:cNvGraphicFramePr>
          <p:nvPr/>
        </p:nvGraphicFramePr>
        <p:xfrm>
          <a:off x="0" y="0"/>
          <a:ext cx="9144000" cy="1054100"/>
        </p:xfrm>
        <a:graphic>
          <a:graphicData uri="http://schemas.openxmlformats.org/drawingml/2006/table">
            <a:tbl>
              <a:tblPr>
                <a:solidFill>
                  <a:srgbClr val="94BAC3"/>
                </a:solidFill>
              </a:tblPr>
              <a:tblGrid>
                <a:gridCol w="9144000"/>
              </a:tblGrid>
              <a:tr h="1054100">
                <a:tc>
                  <a:txBody>
                    <a:bodyPr/>
                    <a:p>
                      <a:pPr algn="l" eaLnBrk="0" rtl="0">
                        <a:lnSpc>
                          <a:spcPct val="108000"/>
                        </a:lnSpc>
                      </a:pPr>
                      <a:endParaRPr dirty="0" sz="9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indent="-102235" marL="1534160" rtl="0">
                        <a:lnSpc>
                          <a:spcPct val="103000"/>
                        </a:lnSpc>
                        <a:spcBef>
                          <a:spcPts val="3"/>
                        </a:spcBef>
                      </a:pPr>
                      <a:r>
                        <a:rPr b="1" dirty="0" sz="27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EGB</a:t>
                      </a:r>
                      <a:r>
                        <a:rPr b="1" dirty="0" sz="2700" kern="0" spc="19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1122 – </a:t>
                      </a:r>
                      <a:r>
                        <a:rPr b="1" dirty="0" sz="27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PYTHON</a:t>
                      </a:r>
                      <a:r>
                        <a:rPr b="1" dirty="0" sz="2700" kern="0" spc="19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b="1" dirty="0" sz="27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PROGRAMMING                 </a:t>
                      </a:r>
                      <a:r>
                        <a:rPr b="1" dirty="0" sz="2700" kern="0" spc="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END SEMESTER PROJECT REVI</a:t>
                      </a:r>
                      <a:r>
                        <a:rPr b="1" dirty="0" sz="2700" kern="0" spc="5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EW</a:t>
                      </a:r>
                      <a:endParaRPr dirty="0" sz="2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BAC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 6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DED3B9">
              <a:alpha val="2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graphicFrame>
        <p:nvGraphicFramePr>
          <p:cNvPr id="4194306" name="table 8"/>
          <p:cNvGraphicFramePr>
            <a:graphicFrameLocks noGrp="1"/>
          </p:cNvGraphicFramePr>
          <p:nvPr/>
        </p:nvGraphicFramePr>
        <p:xfrm>
          <a:off x="0" y="0"/>
          <a:ext cx="9144000" cy="5142864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1747520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</a:tcPr>
                </a:tc>
              </a:tr>
              <a:tr h="3016885">
                <a:tc>
                  <a:txBody>
                    <a:bodyPr/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252855" rtl="0">
                        <a:lnSpc>
                          <a:spcPct val="79000"/>
                        </a:lnSpc>
                        <a:spcBef>
                          <a:spcPts val="4"/>
                        </a:spcBef>
                      </a:pPr>
                      <a:r>
                        <a:rPr b="1" dirty="0" sz="2700" kern="0" spc="5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SCHOOL MANAGEMENT SYSTEM</a:t>
                      </a:r>
                      <a:endParaRPr dirty="0" sz="2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59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577" name="textbox 10"/>
          <p:cNvSpPr/>
          <p:nvPr/>
        </p:nvSpPr>
        <p:spPr>
          <a:xfrm>
            <a:off x="457200" y="285750"/>
            <a:ext cx="8229600" cy="685800"/>
          </a:xfrm>
          <a:prstGeom prst="rect"/>
          <a:solidFill>
            <a:srgbClr val="94BA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67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9206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2506345" rtl="0">
              <a:lnSpc>
                <a:spcPct val="77000"/>
              </a:lnSpc>
            </a:pPr>
            <a:r>
              <a:rPr b="1" dirty="0" sz="3200" kern="0" spc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Title of</a:t>
            </a:r>
            <a:r>
              <a:rPr b="1" dirty="0" sz="3200" kern="0" spc="-18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 dirty="0" sz="3200" kern="0" spc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b="1" dirty="0" sz="3200" kern="0" spc="-1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he Project</a:t>
            </a:r>
            <a:endParaRPr dirty="0"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48578" name="path 12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rect 14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DED3B9">
              <a:alpha val="2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graphicFrame>
        <p:nvGraphicFramePr>
          <p:cNvPr id="4194307" name="table 16"/>
          <p:cNvGraphicFramePr>
            <a:graphicFrameLocks noGrp="1"/>
          </p:cNvGraphicFramePr>
          <p:nvPr/>
        </p:nvGraphicFramePr>
        <p:xfrm>
          <a:off x="0" y="0"/>
          <a:ext cx="9144000" cy="5143498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857250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7789">
                <a:tc>
                  <a:txBody>
                    <a:bodyPr/>
                    <a:p>
                      <a:pPr algn="l" eaLnBrk="0" rtl="0">
                        <a:lnSpc>
                          <a:spcPct val="11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9202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indent="-635" marL="559434" rtl="0">
                        <a:lnSpc>
                          <a:spcPct val="89000"/>
                        </a:lnSpc>
                      </a:pP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</a:t>
                      </a:r>
                      <a:r>
                        <a:rPr dirty="0" sz="2600" kern="0" spc="25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School </a:t>
                      </a:r>
                      <a:r>
                        <a:rPr altLang="en-IN" dirty="0" sz="2600" kern="0" lang="en-US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altLang="en-IN" dirty="0" sz="2600" kern="0" lang="en-US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Management</a:t>
                      </a:r>
                      <a:r>
                        <a:rPr altLang="en-IN" dirty="0" sz="2600" kern="0" lang="en-US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1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</a:t>
                      </a:r>
                      <a:r>
                        <a:rPr altLang="en-IN" dirty="0" sz="2600" kern="0" lang="en-US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is a</a:t>
                      </a:r>
                      <a:r>
                        <a:rPr altLang="en-IN" dirty="0" sz="2600" kern="0" lang="en-US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Python application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altLang="en-IN" dirty="0" sz="2600" kern="0" lang="en-US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designed to </a:t>
                      </a:r>
                      <a:r>
                        <a:rPr altLang="en-IN" dirty="0" sz="2600" kern="0" lang="en-US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automate </a:t>
                      </a:r>
                      <a:r>
                        <a:rPr altLang="en-IN" dirty="0" sz="2600" kern="0" lang="en-US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</a:t>
                      </a: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r>
                        <a:rPr altLang="en-IN" dirty="0" sz="2600" kern="0" lang="en-US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simplify administrative</a:t>
                      </a:r>
                      <a:r>
                        <a:rPr altLang="en-IN" dirty="0" sz="2600" kern="0" lang="en-US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tasks</a:t>
                      </a:r>
                      <a:r>
                        <a:rPr altLang="en-IN" dirty="0" sz="2600" kern="0" lang="en-US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9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altLang="en-IN" dirty="0" sz="2600" kern="0" lang="en-US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educational</a:t>
                      </a:r>
                      <a:r>
                        <a:rPr altLang="en-IN" dirty="0" sz="2600" kern="0" lang="en-US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institutions</a:t>
                      </a:r>
                      <a:r>
                        <a:rPr dirty="0" sz="26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</a:t>
                      </a:r>
                      <a:r>
                        <a:rPr dirty="0" sz="26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utilizes</a:t>
                      </a:r>
                      <a:r>
                        <a:rPr dirty="0" sz="26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Python</a:t>
                      </a:r>
                      <a:r>
                        <a:rPr dirty="0" sz="26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'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  <a:r>
                        <a:rPr dirty="0" sz="26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Tkinter</a:t>
                      </a:r>
                      <a:r>
                        <a:rPr dirty="0" sz="26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</a:t>
                      </a:r>
                      <a:r>
                        <a:rPr dirty="0" sz="2600" kern="0" spc="1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</a:t>
                      </a:r>
                      <a:r>
                        <a:rPr dirty="0" sz="2600" kern="0" spc="1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graphical</a:t>
                      </a:r>
                      <a:r>
                        <a:rPr dirty="0" sz="2600" kern="0" spc="1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</a:t>
                      </a:r>
                      <a:r>
                        <a:rPr dirty="0" sz="2600" kern="0" spc="1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interface</a:t>
                      </a:r>
                      <a:r>
                        <a:rPr dirty="0" sz="2600" kern="0" spc="1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GUI</a:t>
                      </a:r>
                      <a:r>
                        <a:rPr dirty="0" sz="2600" kern="0" spc="1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</a:t>
                      </a:r>
                      <a:r>
                        <a:rPr dirty="0" sz="2600" kern="0" spc="2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SQLite</a:t>
                      </a:r>
                      <a:r>
                        <a:rPr dirty="0" sz="2600" kern="0" spc="1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</a:t>
                      </a:r>
                      <a:r>
                        <a:rPr altLang="en-IN" dirty="0" sz="2600" kern="0" lang="en-US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dirty="0" sz="26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database management. Key features incl</a:t>
                      </a: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ude managing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student</a:t>
                      </a:r>
                      <a:r>
                        <a:rPr dirty="0" sz="26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tracking</a:t>
                      </a:r>
                      <a:r>
                        <a:rPr dirty="0" sz="26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attendance</a:t>
                      </a:r>
                      <a:r>
                        <a:rPr dirty="0" sz="26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handling</a:t>
                      </a:r>
                      <a:r>
                        <a:rPr dirty="0" sz="26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</a:t>
                      </a:r>
                      <a:r>
                        <a:rPr altLang="en-IN" dirty="0" sz="2600" kern="0" lang="en-US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altLang="en-IN" dirty="0" sz="2600" kern="0" lang="en-US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payments</a:t>
                      </a:r>
                      <a:r>
                        <a:rPr dirty="0" sz="2600" kern="0" spc="1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</a:t>
                      </a:r>
                      <a:r>
                        <a:rPr dirty="0" sz="2600" kern="0" spc="1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maintaining</a:t>
                      </a:r>
                      <a:r>
                        <a:rPr dirty="0" sz="2600" kern="0" spc="1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</a:t>
                      </a:r>
                      <a:r>
                        <a:rPr dirty="0" sz="2600" kern="0" spc="1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records</a:t>
                      </a:r>
                      <a:r>
                        <a:rPr dirty="0" sz="2600" kern="0" spc="1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</a:t>
                      </a:r>
                      <a:r>
                        <a:rPr dirty="0" sz="2600" kern="0" spc="1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altLang="en-IN" dirty="0" sz="2600" kern="0" lang="en-US" spc="1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   aims</a:t>
                      </a:r>
                      <a:r>
                        <a:rPr dirty="0" sz="26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</a:t>
                      </a:r>
                      <a:r>
                        <a:rPr dirty="0" sz="26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</a:t>
                      </a:r>
                      <a:r>
                        <a:rPr dirty="0" sz="26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</a:t>
                      </a:r>
                      <a:r>
                        <a:rPr dirty="0" sz="26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paperwork</a:t>
                      </a:r>
                      <a:r>
                        <a:rPr dirty="0" sz="26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minimize</a:t>
                      </a:r>
                      <a:r>
                        <a:rPr dirty="0" sz="26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errors</a:t>
                      </a:r>
                      <a:r>
                        <a:rPr dirty="0" sz="26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 </a:t>
                      </a:r>
                      <a:r>
                        <a:rPr dirty="0" sz="26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enhance operational efficiency.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59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580" name="textbox 18"/>
          <p:cNvSpPr/>
          <p:nvPr/>
        </p:nvSpPr>
        <p:spPr>
          <a:xfrm>
            <a:off x="457200" y="209550"/>
            <a:ext cx="8229600" cy="609600"/>
          </a:xfrm>
          <a:prstGeom prst="rect"/>
          <a:solidFill>
            <a:srgbClr val="94BA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17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8714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3361690" rtl="0">
              <a:lnSpc>
                <a:spcPct val="77000"/>
              </a:lnSpc>
            </a:pPr>
            <a:r>
              <a:rPr b="1" dirty="0" sz="3200" kern="0" spc="-1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Abstract</a:t>
            </a:r>
            <a:endParaRPr dirty="0"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48581" name="path 20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rect 22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DED3B9">
              <a:alpha val="2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graphicFrame>
        <p:nvGraphicFramePr>
          <p:cNvPr id="4194308" name="table 24"/>
          <p:cNvGraphicFramePr>
            <a:graphicFrameLocks noGrp="1"/>
          </p:cNvGraphicFramePr>
          <p:nvPr/>
        </p:nvGraphicFramePr>
        <p:xfrm>
          <a:off x="761" y="761"/>
          <a:ext cx="9142094" cy="5141594"/>
        </p:xfrm>
        <a:graphic>
          <a:graphicData uri="http://schemas.openxmlformats.org/drawingml/2006/table">
            <a:tbl>
              <a:tblPr/>
              <a:tblGrid>
                <a:gridCol w="9142094"/>
              </a:tblGrid>
              <a:tr h="856615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4979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9042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573405" rtl="0">
                        <a:lnSpc>
                          <a:spcPct val="82000"/>
                        </a:lnSpc>
                        <a:tabLst>
                          <a:tab algn="l" pos="704850"/>
                        </a:tabLst>
                      </a:pPr>
                      <a:r>
                        <a:rPr dirty="0" sz="13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r>
                        <a:rPr baseline="-7441" dirty="0" sz="21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dirty="0" sz="13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                          </a:t>
                      </a:r>
                      <a:r>
                        <a:rPr dirty="0" sz="12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EGB1122 – PYTHON PROGRAMMING –</a:t>
                      </a:r>
                      <a:r>
                        <a:rPr dirty="0" sz="1200" kern="0" spc="-1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PROJECT REVIEW</a:t>
                      </a:r>
                      <a:r>
                        <a:rPr dirty="0" sz="1200" kern="0" spc="11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1200" kern="0" spc="-1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dirty="0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583" name="path 26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graphicFrame>
        <p:nvGraphicFramePr>
          <p:cNvPr id="4194309" name="table 28"/>
          <p:cNvGraphicFramePr>
            <a:graphicFrameLocks noGrp="1"/>
          </p:cNvGraphicFramePr>
          <p:nvPr/>
        </p:nvGraphicFramePr>
        <p:xfrm>
          <a:off x="527050" y="1117600"/>
          <a:ext cx="8166100" cy="3251198"/>
        </p:xfrm>
        <a:graphic>
          <a:graphicData uri="http://schemas.openxmlformats.org/drawingml/2006/table">
            <a:tbl>
              <a:tblPr>
                <a:solidFill>
                  <a:srgbClr val="DDE9EC"/>
                </a:solidFill>
              </a:tblPr>
              <a:tblGrid>
                <a:gridCol w="5721350"/>
                <a:gridCol w="838200"/>
                <a:gridCol w="914400"/>
                <a:gridCol w="692150"/>
              </a:tblGrid>
              <a:tr h="445134">
                <a:tc>
                  <a:txBody>
                    <a:bodyPr/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7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439670" rtl="0">
                        <a:lnSpc>
                          <a:spcPct val="81000"/>
                        </a:lnSpc>
                        <a:spcBef>
                          <a:spcPts val="4"/>
                        </a:spcBef>
                      </a:pPr>
                      <a:r>
                        <a:rPr b="1"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Abstract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C"/>
                    </a:solidFill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7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56540" rtl="0">
                        <a:lnSpc>
                          <a:spcPct val="81000"/>
                        </a:lnSpc>
                        <a:spcBef>
                          <a:spcPts val="3"/>
                        </a:spcBef>
                      </a:pPr>
                      <a:r>
                        <a:rPr b="1"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C"/>
                    </a:solidFill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7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259715" rtl="0">
                        <a:lnSpc>
                          <a:spcPct val="81000"/>
                        </a:lnSpc>
                        <a:spcBef>
                          <a:spcPts val="3"/>
                        </a:spcBef>
                      </a:pPr>
                      <a:r>
                        <a:rPr b="1"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C"/>
                    </a:solidFill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7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26364" rtl="0">
                        <a:lnSpc>
                          <a:spcPct val="81000"/>
                        </a:lnSpc>
                        <a:spcBef>
                          <a:spcPts val="4"/>
                        </a:spcBef>
                      </a:pPr>
                      <a:r>
                        <a:rPr b="1"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PSO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C"/>
                    </a:solidFill>
                  </a:tcPr>
                </a:tc>
              </a:tr>
              <a:tr h="2806064">
                <a:tc>
                  <a:txBody>
                    <a:bodyPr/>
                    <a:p>
                      <a:pPr algn="l" eaLnBrk="0" rtl="0">
                        <a:lnSpc>
                          <a:spcPct val="111000"/>
                        </a:lnSpc>
                      </a:pPr>
                      <a:endParaRPr dirty="0" sz="6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indent="-635" marL="104775" rtl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</a:t>
                      </a:r>
                      <a:r>
                        <a:rPr dirty="0" sz="1700" kern="0" spc="1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School Management</a:t>
                      </a:r>
                      <a:r>
                        <a:rPr dirty="0" sz="1700" kern="0" spc="1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 is a Pytho</a:t>
                      </a:r>
                      <a:r>
                        <a:rPr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 application</a:t>
                      </a:r>
                      <a:r>
                        <a:rPr dirty="0" sz="17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</a:t>
                      </a:r>
                      <a:r>
                        <a:rPr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designed to automate and simplify adminis</a:t>
                      </a:r>
                      <a:r>
                        <a:rPr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trative</a:t>
                      </a:r>
                      <a:r>
                        <a:rPr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tasks</a:t>
                      </a:r>
                      <a:r>
                        <a:rPr dirty="0" sz="17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</a:t>
                      </a:r>
                      <a:r>
                        <a:rPr dirty="0" sz="17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</a:t>
                      </a:r>
                      <a:r>
                        <a:rPr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educational institutions. It u</a:t>
                      </a:r>
                      <a:r>
                        <a:rPr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tilizes Python's Tkinter library</a:t>
                      </a:r>
                      <a:r>
                        <a:rPr dirty="0" sz="17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</a:t>
                      </a:r>
                      <a:r>
                        <a:rPr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 the graphical user interf</a:t>
                      </a:r>
                      <a:r>
                        <a:rPr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ace (GUI) and</a:t>
                      </a:r>
                      <a:r>
                        <a:rPr dirty="0" sz="1700" kern="0" spc="1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SQLite</a:t>
                      </a:r>
                      <a:r>
                        <a:rPr dirty="0" sz="1700" kern="0" spc="9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104775" rtl="0">
                        <a:lnSpc>
                          <a:spcPct val="83000"/>
                        </a:lnSpc>
                        <a:spcBef>
                          <a:spcPts val="467"/>
                        </a:spcBef>
                      </a:pPr>
                      <a:r>
                        <a:rPr dirty="0" sz="1700" kern="0" spc="5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database </a:t>
                      </a:r>
                      <a:r>
                        <a:rPr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management. Key features include managing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indent="2540" marL="105410" rtl="0">
                        <a:lnSpc>
                          <a:spcPct val="95000"/>
                        </a:lnSpc>
                        <a:spcBef>
                          <a:spcPts val="444"/>
                        </a:spcBef>
                      </a:pPr>
                      <a:r>
                        <a:rPr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records, tracking attendance, handling fee</a:t>
                      </a:r>
                      <a:r>
                        <a:rPr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payments,</a:t>
                      </a:r>
                      <a:r>
                        <a:rPr dirty="0" sz="17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maintaining library records. The system aims </a:t>
                      </a:r>
                      <a:r>
                        <a:rPr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 reduce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indent="-5714" marL="104775" rtl="0">
                        <a:lnSpc>
                          <a:spcPct val="95000"/>
                        </a:lnSpc>
                        <a:spcBef>
                          <a:spcPts val="444"/>
                        </a:spcBef>
                      </a:pPr>
                      <a:r>
                        <a:rPr dirty="0" sz="1700" kern="0" spc="5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 pap</a:t>
                      </a:r>
                      <a:r>
                        <a:rPr dirty="0" sz="17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erwork, minimize errors, and enhance</a:t>
                      </a:r>
                      <a:r>
                        <a:rPr dirty="0" sz="17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</a:t>
                      </a:r>
                      <a:r>
                        <a:rPr dirty="0" sz="17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operational efficiency.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C"/>
                    </a:solidFill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6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906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r>
                        <a:rPr dirty="0" sz="17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C01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9060" rtl="0">
                        <a:lnSpc>
                          <a:spcPts val="2159"/>
                        </a:lnSpc>
                      </a:pPr>
                      <a:r>
                        <a:rPr dirty="0" sz="17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C0</a:t>
                      </a:r>
                      <a:r>
                        <a:rPr altLang="en-IN" dirty="0" sz="1700" kern="0" lang="en-US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9060" rtl="0">
                        <a:lnSpc>
                          <a:spcPts val="2160"/>
                        </a:lnSpc>
                      </a:pPr>
                      <a:r>
                        <a:rPr dirty="0" sz="17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</a:t>
                      </a:r>
                      <a:r>
                        <a:rPr altLang="en-IN" dirty="0" sz="1700" kern="0" lang="en-US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9060" rtl="0">
                        <a:lnSpc>
                          <a:spcPts val="2159"/>
                        </a:lnSpc>
                      </a:pPr>
                      <a:r>
                        <a:rPr dirty="0" sz="1700" kern="0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C0</a:t>
                      </a:r>
                      <a:r>
                        <a:rPr altLang="en-IN" dirty="0" sz="1700" kern="0" lang="en-US" spc="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C"/>
                    </a:solidFill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6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r>
                        <a:rPr dirty="0" sz="1700" kern="0" lang="en-IN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PO1</a:t>
                      </a: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endParaRPr dirty="0" sz="1700" kern="0" lang="en-IN" spc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r>
                        <a:rPr dirty="0" sz="1700" kern="0" lang="en-IN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PO2</a:t>
                      </a: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endParaRPr dirty="0" sz="1700" kern="0" lang="en-IN" spc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r>
                        <a:rPr dirty="0" sz="1700" kern="0" lang="en-IN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PO3</a:t>
                      </a: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endParaRPr dirty="0" sz="1700" kern="0" lang="en-IN" spc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r>
                        <a:rPr dirty="0" sz="1700" kern="0" lang="en-IN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PO4</a:t>
                      </a: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endParaRPr dirty="0" sz="1700" kern="0" lang="en-IN" spc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r>
                        <a:rPr dirty="0" sz="1700" kern="0" lang="en-IN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PO5</a:t>
                      </a: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endParaRPr dirty="0" sz="1700" kern="0" lang="en-IN" spc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r>
                        <a:rPr dirty="0" sz="1700" kern="0" lang="en-IN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PO6</a:t>
                      </a: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endParaRPr dirty="0" sz="1700" kern="0" lang="en-IN" spc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5250" rtl="0">
                        <a:lnSpc>
                          <a:spcPts val="1261"/>
                        </a:lnSpc>
                        <a:spcBef>
                          <a:spcPts val="5"/>
                        </a:spcBef>
                      </a:pPr>
                      <a:r>
                        <a:rPr dirty="0" sz="1700" kern="0" lang="en-IN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PO7</a:t>
                      </a: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5250" rtl="0">
                        <a:lnSpc>
                          <a:spcPts val="2159"/>
                        </a:lnSpc>
                      </a:pPr>
                      <a:endParaRPr dirty="0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C"/>
                    </a:solidFill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37000"/>
                        </a:lnSpc>
                      </a:pPr>
                      <a:endParaRPr dirty="0" sz="2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4614" rtl="0">
                        <a:lnSpc>
                          <a:spcPct val="106000"/>
                        </a:lnSpc>
                      </a:pPr>
                      <a:r>
                        <a:rPr dirty="0" sz="15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PSO</a:t>
                      </a:r>
                      <a:r>
                        <a:rPr dirty="0" sz="1500" kern="0" spc="1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dirty="0" sz="15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dirty="0" sz="15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PSO</a:t>
                      </a:r>
                      <a:r>
                        <a:rPr dirty="0" sz="1500" kern="0" spc="1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dirty="0" sz="15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C"/>
                    </a:solidFill>
                  </a:tcPr>
                </a:tc>
              </a:tr>
            </a:tbl>
          </a:graphicData>
        </a:graphic>
      </p:graphicFrame>
      <p:sp>
        <p:nvSpPr>
          <p:cNvPr id="1048584" name="textbox 30"/>
          <p:cNvSpPr/>
          <p:nvPr/>
        </p:nvSpPr>
        <p:spPr>
          <a:xfrm>
            <a:off x="685800" y="171450"/>
            <a:ext cx="8001000" cy="495300"/>
          </a:xfrm>
          <a:prstGeom prst="rect"/>
          <a:solidFill>
            <a:srgbClr val="94BA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08000"/>
              </a:lnSpc>
            </a:pPr>
            <a:endParaRPr dirty="0" sz="400">
              <a:latin typeface="Arial"/>
              <a:ea typeface="Arial"/>
              <a:cs typeface="Arial"/>
            </a:endParaRPr>
          </a:p>
          <a:p>
            <a:pPr algn="l" eaLnBrk="0" marL="1276985" rtl="0">
              <a:lnSpc>
                <a:spcPct val="77000"/>
              </a:lnSpc>
              <a:spcBef>
                <a:spcPts val="2"/>
              </a:spcBef>
            </a:pPr>
            <a:r>
              <a:rPr b="1" dirty="0" sz="3200" kern="0" spc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Abstract with CO/PO </a:t>
            </a:r>
            <a:r>
              <a:rPr b="1" dirty="0" sz="3200" kern="0" spc="-1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Mapping</a:t>
            </a:r>
            <a:endParaRPr dirty="0" sz="3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097152" name="picture 3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457200" y="4760112"/>
            <a:ext cx="8229600" cy="9525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rect 34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DED3B9">
              <a:alpha val="2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graphicFrame>
        <p:nvGraphicFramePr>
          <p:cNvPr id="4194310" name="table 36"/>
          <p:cNvGraphicFramePr>
            <a:graphicFrameLocks noGrp="1"/>
          </p:cNvGraphicFramePr>
          <p:nvPr/>
        </p:nvGraphicFramePr>
        <p:xfrm>
          <a:off x="0" y="0"/>
          <a:ext cx="9144000" cy="5143498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857250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7789">
                <a:tc>
                  <a:txBody>
                    <a:bodyPr/>
                    <a:p>
                      <a:pPr algn="l" eaLnBrk="0" rtl="0">
                        <a:lnSpc>
                          <a:spcPct val="14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4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565150" rtl="0">
                        <a:lnSpc>
                          <a:spcPct val="82000"/>
                        </a:lnSpc>
                        <a:spcBef>
                          <a:spcPts val="3"/>
                        </a:spcBef>
                      </a:pPr>
                      <a:r>
                        <a:rPr dirty="0" sz="1500" kern="0" spc="4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500" kern="0" spc="13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</a:t>
                      </a:r>
                      <a:r>
                        <a:rPr dirty="0" sz="20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School Management</a:t>
                      </a:r>
                      <a:r>
                        <a:rPr dirty="0" sz="20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 in Pyt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hon is a software</a:t>
                      </a:r>
                      <a:r>
                        <a:rPr dirty="0" sz="20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application</a:t>
                      </a:r>
                      <a:endParaRPr dirty="0" sz="2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831214" rtl="0">
                        <a:lnSpc>
                          <a:spcPct val="82000"/>
                        </a:lnSpc>
                        <a:spcBef>
                          <a:spcPts val="552"/>
                        </a:spcBef>
                      </a:pP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developed to streamline and automate the dail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dirty="0" sz="2000" kern="0" spc="9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administrative</a:t>
                      </a:r>
                      <a:r>
                        <a:rPr dirty="0" sz="20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</a:t>
                      </a:r>
                      <a:endParaRPr dirty="0" sz="2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indent="7620" marL="824230" rtl="0">
                        <a:lnSpc>
                          <a:spcPct val="99000"/>
                        </a:lnSpc>
                        <a:spcBef>
                          <a:spcPts val="577"/>
                        </a:spcBef>
                      </a:pP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tasks in educational institutions. Thi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 system is</a:t>
                      </a:r>
                      <a:r>
                        <a:rPr dirty="0" sz="20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designed using</a:t>
                      </a:r>
                      <a:r>
                        <a:rPr dirty="0" sz="20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</a:t>
                      </a:r>
                      <a:r>
                        <a:rPr dirty="0" sz="2000" kern="0" spc="5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Python, one of</a:t>
                      </a:r>
                      <a:r>
                        <a:rPr dirty="0" sz="2000" kern="0" spc="-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5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most popu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lar and versatile programming languages,</a:t>
                      </a:r>
                      <a:r>
                        <a:rPr dirty="0" sz="20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which makes it both efficient and scalable.The goal</a:t>
                      </a:r>
                      <a:r>
                        <a:rPr dirty="0" sz="2000" kern="0" spc="9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</a:t>
                      </a:r>
                      <a:r>
                        <a:rPr dirty="0" sz="2000" kern="0" spc="-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this project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is</a:t>
                      </a:r>
                      <a:r>
                        <a:rPr dirty="0" sz="2000" kern="0" spc="5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</a:t>
                      </a:r>
                      <a:r>
                        <a:rPr dirty="0" sz="20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create a user-friendly platform that allows school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administrators,</a:t>
                      </a:r>
                      <a:endParaRPr dirty="0" sz="2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indent="-6350" marL="831850" rtl="0">
                        <a:lnSpc>
                          <a:spcPct val="94000"/>
                        </a:lnSpc>
                        <a:spcBef>
                          <a:spcPts val="528"/>
                        </a:spcBef>
                      </a:pP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teachers, and staff</a:t>
                      </a:r>
                      <a:r>
                        <a:rPr dirty="0" sz="2000" kern="0" spc="-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 manage key information such as</a:t>
                      </a:r>
                      <a:r>
                        <a:rPr dirty="0" sz="2000" kern="0" spc="1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records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</a:t>
                      </a:r>
                      <a:r>
                        <a:rPr dirty="0" sz="20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class schedules, attendance, exam results, and fee m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anagement.</a:t>
                      </a:r>
                      <a:r>
                        <a:rPr dirty="0" sz="2000" kern="0" spc="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By</a:t>
                      </a:r>
                      <a:endParaRPr dirty="0" sz="2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831214" rtl="0">
                        <a:lnSpc>
                          <a:spcPct val="82000"/>
                        </a:lnSpc>
                        <a:spcBef>
                          <a:spcPts val="552"/>
                        </a:spcBef>
                      </a:pP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digitizing these processes, the system reduces paperwork, m</a:t>
                      </a:r>
                      <a:r>
                        <a:rPr dirty="0" sz="2000" kern="0" spc="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inimizes</a:t>
                      </a:r>
                      <a:endParaRPr dirty="0" sz="2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824230" rtl="0">
                        <a:lnSpc>
                          <a:spcPct val="82000"/>
                        </a:lnSpc>
                        <a:spcBef>
                          <a:spcPts val="552"/>
                        </a:spcBef>
                      </a:pP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human errors, and enhances the overall efficiency of</a:t>
                      </a:r>
                      <a:r>
                        <a:rPr dirty="0" sz="20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school</a:t>
                      </a:r>
                      <a:r>
                        <a:rPr dirty="0" sz="20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0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operations.</a:t>
                      </a:r>
                      <a:endParaRPr dirty="0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59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586" name="textbox 38"/>
          <p:cNvSpPr/>
          <p:nvPr/>
        </p:nvSpPr>
        <p:spPr>
          <a:xfrm>
            <a:off x="457200" y="285750"/>
            <a:ext cx="8229600" cy="457200"/>
          </a:xfrm>
          <a:prstGeom prst="rect"/>
          <a:solidFill>
            <a:srgbClr val="94BA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82000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3019425" rtl="0">
              <a:lnSpc>
                <a:spcPct val="77000"/>
              </a:lnSpc>
              <a:spcBef>
                <a:spcPts val="1"/>
              </a:spcBef>
            </a:pPr>
            <a:r>
              <a:rPr b="1" dirty="0" sz="3200" kern="0" spc="-1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Introduct</a:t>
            </a:r>
            <a:r>
              <a:rPr b="1" dirty="0" sz="3200" kern="0" spc="-2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ion</a:t>
            </a:r>
            <a:endParaRPr dirty="0"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48587" name="path 40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rect 42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DED3B9">
              <a:alpha val="2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graphicFrame>
        <p:nvGraphicFramePr>
          <p:cNvPr id="4194311" name="table 44"/>
          <p:cNvGraphicFramePr>
            <a:graphicFrameLocks noGrp="1"/>
          </p:cNvGraphicFramePr>
          <p:nvPr/>
        </p:nvGraphicFramePr>
        <p:xfrm>
          <a:off x="0" y="0"/>
          <a:ext cx="9144000" cy="5143498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1092835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</a:tcPr>
                </a:tc>
              </a:tr>
              <a:tr h="3672204">
                <a:tc>
                  <a:txBody>
                    <a:bodyPr/>
                    <a:p>
                      <a:pPr algn="l" eaLnBrk="0" rtl="0">
                        <a:lnSpc>
                          <a:spcPct val="15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073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569594" rtl="0">
                        <a:lnSpc>
                          <a:spcPct val="79000"/>
                        </a:lnSpc>
                      </a:pPr>
                      <a:r>
                        <a:rPr dirty="0" sz="1900" kern="0" spc="-2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-45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Variables and Da</a:t>
                      </a:r>
                      <a:r>
                        <a:rPr dirty="0" sz="26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 Types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569594" rtl="0">
                        <a:lnSpc>
                          <a:spcPct val="85000"/>
                        </a:lnSpc>
                        <a:spcBef>
                          <a:spcPts val="1250"/>
                        </a:spcBef>
                      </a:pPr>
                      <a:r>
                        <a:rPr dirty="0" sz="1900" kern="0" spc="-2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-32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</a:t>
                      </a:r>
                      <a:r>
                        <a:rPr dirty="0" sz="26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26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569594" rtl="0">
                        <a:lnSpc>
                          <a:spcPct val="85000"/>
                        </a:lnSpc>
                        <a:spcBef>
                          <a:spcPts val="1068"/>
                        </a:spcBef>
                      </a:pPr>
                      <a:r>
                        <a:rPr dirty="0" sz="1900" kern="0" spc="-1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-40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Functions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569594" rtl="0">
                        <a:lnSpc>
                          <a:spcPct val="79000"/>
                        </a:lnSpc>
                        <a:spcBef>
                          <a:spcPts val="1073"/>
                        </a:spcBef>
                      </a:pPr>
                      <a:r>
                        <a:rPr dirty="0" sz="1900" kern="0" spc="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-38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Object-Oriented Pr</a:t>
                      </a:r>
                      <a:r>
                        <a:rPr dirty="0" sz="26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ogramming (OOP)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569594" rtl="0">
                        <a:lnSpc>
                          <a:spcPct val="79000"/>
                        </a:lnSpc>
                        <a:spcBef>
                          <a:spcPts val="1255"/>
                        </a:spcBef>
                      </a:pPr>
                      <a:r>
                        <a:rPr dirty="0" sz="1900" kern="0" spc="-1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28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 Handling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569594" rtl="0">
                        <a:lnSpc>
                          <a:spcPct val="79000"/>
                        </a:lnSpc>
                        <a:spcBef>
                          <a:spcPts val="1255"/>
                        </a:spcBef>
                      </a:pPr>
                      <a:r>
                        <a:rPr dirty="0" sz="1900" kern="0" spc="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-43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Modules and P</a:t>
                      </a:r>
                      <a:r>
                        <a:rPr dirty="0" sz="26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ackages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6295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569594" rtl="0">
                        <a:lnSpc>
                          <a:spcPct val="79000"/>
                        </a:lnSpc>
                      </a:pPr>
                      <a:r>
                        <a:rPr dirty="0" sz="1900" kern="0" spc="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-43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Database Conn</a:t>
                      </a:r>
                      <a:r>
                        <a:rPr dirty="0" sz="26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ectivity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59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589" name="textbox 46"/>
          <p:cNvSpPr/>
          <p:nvPr/>
        </p:nvSpPr>
        <p:spPr>
          <a:xfrm>
            <a:off x="457200" y="114300"/>
            <a:ext cx="8229600" cy="748030"/>
          </a:xfrm>
          <a:prstGeom prst="rect"/>
          <a:solidFill>
            <a:srgbClr val="94BA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736600" rtl="0">
              <a:lnSpc>
                <a:spcPct val="77000"/>
              </a:lnSpc>
              <a:spcBef>
                <a:spcPts val="5"/>
              </a:spcBef>
            </a:pPr>
            <a:r>
              <a:rPr b="1" dirty="0" sz="3200" kern="0" spc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Python Programmi</a:t>
            </a:r>
            <a:r>
              <a:rPr b="1" dirty="0" sz="3200" kern="0" spc="-1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ng  - Concepts Used</a:t>
            </a:r>
            <a:endParaRPr dirty="0"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48590" name="path 48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rect 50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DED3B9">
              <a:alpha val="2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graphicFrame>
        <p:nvGraphicFramePr>
          <p:cNvPr id="4194312" name="table 52"/>
          <p:cNvGraphicFramePr>
            <a:graphicFrameLocks noGrp="1"/>
          </p:cNvGraphicFramePr>
          <p:nvPr/>
        </p:nvGraphicFramePr>
        <p:xfrm>
          <a:off x="2809875" y="1114425"/>
          <a:ext cx="2931795" cy="374650"/>
        </p:xfrm>
        <a:graphic>
          <a:graphicData uri="http://schemas.openxmlformats.org/drawingml/2006/table">
            <a:tbl>
              <a:tblPr>
                <a:solidFill>
                  <a:srgbClr val="727CA3"/>
                </a:solidFill>
              </a:tblPr>
              <a:tblGrid>
                <a:gridCol w="2931795"/>
              </a:tblGrid>
              <a:tr h="374650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525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25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25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25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7CA3"/>
                    </a:solidFill>
                  </a:tcPr>
                </a:tc>
              </a:tr>
            </a:tbl>
          </a:graphicData>
        </a:graphic>
      </p:graphicFrame>
      <p:sp>
        <p:nvSpPr>
          <p:cNvPr id="1048592" name="textbox 54"/>
          <p:cNvSpPr/>
          <p:nvPr/>
        </p:nvSpPr>
        <p:spPr>
          <a:xfrm>
            <a:off x="3782034" y="1169593"/>
            <a:ext cx="1001394" cy="29972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3341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2158"/>
              </a:lnSpc>
            </a:pPr>
            <a:r>
              <a:rPr dirty="0" sz="1700" kern="0" spc="-4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dirty="0" sz="1700" kern="0" spc="15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1700" kern="0" spc="-4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Input</a:t>
            </a:r>
            <a:endParaRPr dirty="0" sz="1700">
              <a:latin typeface="Arial"/>
              <a:ea typeface="Arial"/>
              <a:cs typeface="Arial"/>
            </a:endParaRPr>
          </a:p>
        </p:txBody>
      </p:sp>
      <p:pic>
        <p:nvPicPr>
          <p:cNvPr id="2097153" name="picture 5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4218749" y="1352003"/>
            <a:ext cx="107759" cy="387261"/>
          </a:xfrm>
          <a:prstGeom prst="rect"/>
        </p:spPr>
      </p:pic>
      <p:graphicFrame>
        <p:nvGraphicFramePr>
          <p:cNvPr id="4194313" name="table 58"/>
          <p:cNvGraphicFramePr>
            <a:graphicFrameLocks noGrp="1"/>
          </p:cNvGraphicFramePr>
          <p:nvPr/>
        </p:nvGraphicFramePr>
        <p:xfrm>
          <a:off x="2886075" y="1724025"/>
          <a:ext cx="3034665" cy="480060"/>
        </p:xfrm>
        <a:graphic>
          <a:graphicData uri="http://schemas.openxmlformats.org/drawingml/2006/table">
            <a:tbl>
              <a:tblPr>
                <a:solidFill>
                  <a:srgbClr val="727CA3"/>
                </a:solidFill>
              </a:tblPr>
              <a:tblGrid>
                <a:gridCol w="3034665"/>
              </a:tblGrid>
              <a:tr h="480060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525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25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25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25B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7CA3"/>
                    </a:solidFill>
                  </a:tcPr>
                </a:tc>
              </a:tr>
            </a:tbl>
          </a:graphicData>
        </a:graphic>
      </p:graphicFrame>
      <p:pic>
        <p:nvPicPr>
          <p:cNvPr id="2097154" name="picture 6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21600000">
            <a:off x="2819400" y="2190750"/>
            <a:ext cx="3025775" cy="1085214"/>
          </a:xfrm>
          <a:prstGeom prst="rect"/>
        </p:spPr>
      </p:pic>
      <p:sp>
        <p:nvSpPr>
          <p:cNvPr id="1048593" name="textbox 62"/>
          <p:cNvSpPr/>
          <p:nvPr/>
        </p:nvSpPr>
        <p:spPr>
          <a:xfrm>
            <a:off x="3296284" y="2530143"/>
            <a:ext cx="2072639" cy="76200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74379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indent="-176529" marL="188595" rtl="0">
              <a:lnSpc>
                <a:spcPct val="110000"/>
              </a:lnSpc>
            </a:pPr>
            <a:r>
              <a:rPr dirty="0" sz="1500" kern="0" spc="-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Application</a:t>
            </a:r>
            <a:r>
              <a:rPr dirty="0" sz="1500" kern="0" spc="14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1500" kern="0" spc="-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Layer</a:t>
            </a:r>
            <a:r>
              <a:rPr dirty="0" sz="1500" kern="0" spc="14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1500" kern="0" spc="-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(L</a:t>
            </a:r>
            <a:r>
              <a:rPr dirty="0" sz="1500" kern="0" spc="-4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ogic)</a:t>
            </a:r>
            <a:r>
              <a:rPr dirty="0" sz="1500" kern="0" spc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1400" kern="0" spc="-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(e.g., Manage</a:t>
            </a:r>
            <a:r>
              <a:rPr dirty="0" sz="1400" kern="0" spc="16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1400" kern="0" spc="-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Students,</a:t>
            </a:r>
            <a:r>
              <a:rPr dirty="0" sz="1400" kern="0" spc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dirty="0" sz="1500" kern="0" spc="-1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Attendance, Grades)</a:t>
            </a:r>
            <a:endParaRPr dirty="0" sz="1500">
              <a:latin typeface="Arial"/>
              <a:ea typeface="Arial"/>
              <a:cs typeface="Arial"/>
            </a:endParaRPr>
          </a:p>
        </p:txBody>
      </p:sp>
      <p:pic>
        <p:nvPicPr>
          <p:cNvPr id="2097155" name="picture 64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21600000">
            <a:off x="2810510" y="3114675"/>
            <a:ext cx="2851784" cy="990600"/>
          </a:xfrm>
          <a:prstGeom prst="rect"/>
        </p:spPr>
      </p:pic>
      <p:pic>
        <p:nvPicPr>
          <p:cNvPr id="2097156" name="picture 66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21600000">
            <a:off x="2783205" y="4098925"/>
            <a:ext cx="3061969" cy="569595"/>
          </a:xfrm>
          <a:prstGeom prst="rect"/>
        </p:spPr>
      </p:pic>
      <p:graphicFrame>
        <p:nvGraphicFramePr>
          <p:cNvPr id="4194314" name="table 68"/>
          <p:cNvGraphicFramePr>
            <a:graphicFrameLocks noGrp="1"/>
          </p:cNvGraphicFramePr>
          <p:nvPr/>
        </p:nvGraphicFramePr>
        <p:xfrm>
          <a:off x="0" y="0"/>
          <a:ext cx="9144000" cy="5143498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857250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7789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8354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053079" rtl="0">
                        <a:lnSpc>
                          <a:spcPts val="2158"/>
                        </a:lnSpc>
                      </a:pPr>
                      <a:r>
                        <a:rPr dirty="0" sz="1700" kern="0" spc="-2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Output /</a:t>
                      </a:r>
                      <a:r>
                        <a:rPr dirty="0" sz="1700" kern="0" spc="17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700" kern="0" spc="-2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</a:t>
                      </a:r>
                      <a:r>
                        <a:rPr dirty="0" sz="1700" kern="0" spc="-3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sponse to</a:t>
                      </a:r>
                      <a:r>
                        <a:rPr dirty="0" sz="1700" kern="0" spc="13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700" kern="0" spc="-3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User</a:t>
                      </a:r>
                      <a:endParaRPr dirty="0" sz="17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59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594" name="textbox 70"/>
          <p:cNvSpPr/>
          <p:nvPr/>
        </p:nvSpPr>
        <p:spPr>
          <a:xfrm>
            <a:off x="381000" y="0"/>
            <a:ext cx="8229600" cy="742950"/>
          </a:xfrm>
          <a:prstGeom prst="rect"/>
          <a:solidFill>
            <a:srgbClr val="94BA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2178685" rtl="0">
              <a:lnSpc>
                <a:spcPct val="77000"/>
              </a:lnSpc>
              <a:spcBef>
                <a:spcPts val="5"/>
              </a:spcBef>
            </a:pPr>
            <a:r>
              <a:rPr b="1" dirty="0" sz="3200" kern="0" spc="-1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Proposed</a:t>
            </a:r>
            <a:r>
              <a:rPr b="1" dirty="0" sz="3200" kern="0" spc="-16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 dirty="0" sz="3200" kern="0" spc="-1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Arc</a:t>
            </a:r>
            <a:r>
              <a:rPr b="1" dirty="0" sz="3200" kern="0" spc="-2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hitecture</a:t>
            </a:r>
            <a:endParaRPr dirty="0"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48595" name="textbox 72"/>
          <p:cNvSpPr/>
          <p:nvPr/>
        </p:nvSpPr>
        <p:spPr>
          <a:xfrm>
            <a:off x="3016376" y="1831898"/>
            <a:ext cx="2790825" cy="29972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3341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2158"/>
              </a:lnSpc>
            </a:pPr>
            <a:r>
              <a:rPr dirty="0" sz="1700" kern="0" spc="-5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Presentation</a:t>
            </a:r>
            <a:r>
              <a:rPr dirty="0" sz="1700" kern="0" spc="2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1700" kern="0" spc="-5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Layer</a:t>
            </a:r>
            <a:r>
              <a:rPr dirty="0" sz="1700" kern="0" spc="14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1700" kern="0" spc="-5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(CLI/</a:t>
            </a:r>
            <a:r>
              <a:rPr dirty="0" sz="1700" kern="0" spc="12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1700" kern="0" spc="-5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GUI)</a:t>
            </a:r>
            <a:endParaRPr dirty="0" sz="1700">
              <a:latin typeface="Arial"/>
              <a:ea typeface="Arial"/>
              <a:cs typeface="Arial"/>
            </a:endParaRPr>
          </a:p>
        </p:txBody>
      </p:sp>
      <p:sp>
        <p:nvSpPr>
          <p:cNvPr id="1048596" name="textbox 74"/>
          <p:cNvSpPr/>
          <p:nvPr/>
        </p:nvSpPr>
        <p:spPr>
          <a:xfrm>
            <a:off x="2941548" y="3720388"/>
            <a:ext cx="2606675" cy="299720"/>
          </a:xfrm>
          <a:prstGeom prst="rect"/>
          <a:noFill/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83341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12700" rtl="0">
              <a:lnSpc>
                <a:spcPts val="2158"/>
              </a:lnSpc>
            </a:pPr>
            <a:r>
              <a:rPr dirty="0" sz="1600" kern="0" spc="-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dirty="0" sz="1600" kern="0" spc="20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1600" kern="0" spc="-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Layer</a:t>
            </a:r>
            <a:r>
              <a:rPr dirty="0" sz="1600" kern="0" spc="17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1600" kern="0" spc="-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(Files/</a:t>
            </a:r>
            <a:r>
              <a:rPr dirty="0" sz="1600" kern="0" spc="19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dirty="0" sz="1600" kern="0" spc="-3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Database)</a:t>
            </a:r>
            <a:endParaRPr dirty="0" sz="1600">
              <a:latin typeface="Arial"/>
              <a:ea typeface="Arial"/>
              <a:cs typeface="Arial"/>
            </a:endParaRPr>
          </a:p>
        </p:txBody>
      </p:sp>
      <p:sp>
        <p:nvSpPr>
          <p:cNvPr id="1048597" name="path 76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5" name="table 78"/>
          <p:cNvGraphicFramePr>
            <a:graphicFrameLocks noGrp="1"/>
          </p:cNvGraphicFramePr>
          <p:nvPr/>
        </p:nvGraphicFramePr>
        <p:xfrm>
          <a:off x="0" y="0"/>
          <a:ext cx="9144000" cy="5140325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5140325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16" name="table 80"/>
          <p:cNvGraphicFramePr>
            <a:graphicFrameLocks noGrp="1"/>
          </p:cNvGraphicFramePr>
          <p:nvPr/>
        </p:nvGraphicFramePr>
        <p:xfrm>
          <a:off x="457200" y="114300"/>
          <a:ext cx="8228964" cy="4655181"/>
        </p:xfrm>
        <a:graphic>
          <a:graphicData uri="http://schemas.openxmlformats.org/drawingml/2006/table">
            <a:tbl>
              <a:tblPr/>
              <a:tblGrid>
                <a:gridCol w="494030"/>
                <a:gridCol w="7734934"/>
              </a:tblGrid>
              <a:tr h="742950">
                <a:tc gridSpan="2">
                  <a:txBody>
                    <a:bodyPr/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758190" rtl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dirty="0" sz="32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b="1" dirty="0" sz="32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</a:t>
                      </a:r>
                      <a:r>
                        <a:rPr b="1" dirty="0" sz="3200" kern="0" spc="-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b="1" dirty="0" sz="32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b="1" dirty="0" sz="32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rchitecture -</a:t>
                      </a:r>
                      <a:r>
                        <a:rPr b="1" dirty="0" sz="32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b="1" dirty="0" sz="32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dirty="0" sz="3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4BAC3"/>
                    </a:solidFill>
                  </a:tcPr>
                </a:tc>
                <a:tc hMerge="1">
                  <a:txBody>
                    <a:bodyPr/>
                    <a:p/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4BAC3"/>
                    </a:solidFill>
                  </a:tcPr>
                </a:tc>
              </a:tr>
              <a:tr h="696594">
                <a:tc gridSpan="2">
                  <a:txBody>
                    <a:bodyPr/>
                    <a:p>
                      <a:pPr algn="l" eaLnBrk="0" rtl="0">
                        <a:lnSpc>
                          <a:spcPct val="13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36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39725" rtl="0">
                        <a:lnSpc>
                          <a:spcPts val="1912"/>
                        </a:lnSpc>
                        <a:spcBef>
                          <a:spcPts val="6"/>
                        </a:spcBef>
                      </a:pPr>
                      <a:r>
                        <a:rPr dirty="0" sz="15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dirty="0" sz="15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dirty="0" sz="15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User</a:t>
                      </a:r>
                      <a:r>
                        <a:rPr dirty="0" sz="1500" kern="0" spc="1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5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Login</a:t>
                      </a:r>
                      <a:endParaRPr dirty="0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</a:tcPr>
                </a:tc>
              </a:tr>
              <a:tr h="267969">
                <a:tc>
                  <a:txBody>
                    <a:bodyPr/>
                    <a:p>
                      <a:pPr algn="l" eaLnBrk="0" rtl="0">
                        <a:lnSpc>
                          <a:spcPct val="109000"/>
                        </a:lnSpc>
                      </a:pPr>
                      <a:endParaRPr dirty="0" sz="5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30200" rtl="0">
                        <a:lnSpc>
                          <a:spcPts val="591"/>
                        </a:lnSpc>
                        <a:spcBef>
                          <a:spcPts val="4"/>
                        </a:spcBef>
                      </a:pPr>
                      <a:r>
                        <a:rPr dirty="0" sz="400" kern="0" spc="3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endParaRPr dirty="0" sz="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marL="127000" rtl="0">
                        <a:lnSpc>
                          <a:spcPts val="1874"/>
                        </a:lnSpc>
                      </a:pPr>
                      <a:r>
                        <a:rPr dirty="0" sz="15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Dashboard</a:t>
                      </a:r>
                      <a:r>
                        <a:rPr dirty="0" sz="15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/</a:t>
                      </a:r>
                      <a:r>
                        <a:rPr dirty="0" sz="1500" kern="0" spc="1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5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Home</a:t>
                      </a:r>
                      <a:endParaRPr dirty="0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615">
                <a:tc>
                  <a:txBody>
                    <a:bodyPr/>
                    <a:p>
                      <a:pPr algn="l" eaLnBrk="0" rtl="0">
                        <a:lnSpc>
                          <a:spcPct val="106000"/>
                        </a:lnSpc>
                      </a:pPr>
                      <a:endParaRPr dirty="0" sz="8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40359" rtl="0">
                        <a:lnSpc>
                          <a:spcPts val="591"/>
                        </a:lnSpc>
                        <a:spcBef>
                          <a:spcPts val="5"/>
                        </a:spcBef>
                      </a:pPr>
                      <a:r>
                        <a:rPr dirty="0" sz="400" kern="0" spc="3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endParaRPr dirty="0" sz="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36000"/>
                        </a:lnSpc>
                      </a:pPr>
                      <a:endParaRPr dirty="0" sz="2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87325" rtl="0">
                        <a:lnSpc>
                          <a:spcPts val="1912"/>
                        </a:lnSpc>
                        <a:spcBef>
                          <a:spcPts val="1"/>
                        </a:spcBef>
                      </a:pPr>
                      <a:r>
                        <a:rPr dirty="0" sz="1500" kern="0" spc="-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Student</a:t>
                      </a:r>
                      <a:r>
                        <a:rPr dirty="0" sz="1500" kern="0" spc="1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500" kern="0" spc="-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Management</a:t>
                      </a:r>
                      <a:endParaRPr dirty="0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0200">
                <a:tc>
                  <a:txBody>
                    <a:bodyPr/>
                    <a:p>
                      <a:pPr algn="l" eaLnBrk="0" rtl="0">
                        <a:lnSpc>
                          <a:spcPct val="111000"/>
                        </a:lnSpc>
                      </a:pPr>
                      <a:endParaRPr dirty="0" sz="7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40359" rtl="0">
                        <a:lnSpc>
                          <a:spcPts val="591"/>
                        </a:lnSpc>
                      </a:pPr>
                      <a:r>
                        <a:rPr dirty="0" sz="400" kern="0" spc="3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endParaRPr dirty="0" sz="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97000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82245" rtl="0">
                        <a:lnSpc>
                          <a:spcPts val="1912"/>
                        </a:lnSpc>
                        <a:spcBef>
                          <a:spcPts val="1"/>
                        </a:spcBef>
                      </a:pPr>
                      <a:r>
                        <a:rPr dirty="0" sz="1500" kern="0" spc="-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Teacher</a:t>
                      </a:r>
                      <a:r>
                        <a:rPr dirty="0" sz="15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500" kern="0" spc="-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Management</a:t>
                      </a:r>
                      <a:endParaRPr dirty="0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164">
                <a:tc>
                  <a:txBody>
                    <a:bodyPr/>
                    <a:p>
                      <a:pPr algn="l" eaLnBrk="0" rtl="0">
                        <a:lnSpc>
                          <a:spcPct val="104000"/>
                        </a:lnSpc>
                      </a:pPr>
                      <a:endParaRPr dirty="0" sz="7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30200" rtl="0">
                        <a:lnSpc>
                          <a:spcPts val="591"/>
                        </a:lnSpc>
                        <a:spcBef>
                          <a:spcPts val="7"/>
                        </a:spcBef>
                      </a:pPr>
                      <a:r>
                        <a:rPr dirty="0" sz="400" kern="0" spc="3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endParaRPr dirty="0" sz="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54000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72085" rtl="0">
                        <a:lnSpc>
                          <a:spcPts val="1912"/>
                        </a:lnSpc>
                      </a:pPr>
                      <a:r>
                        <a:rPr dirty="0" sz="1500" kern="0" spc="-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Teacher</a:t>
                      </a:r>
                      <a:r>
                        <a:rPr dirty="0" sz="15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500" kern="0" spc="-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Management</a:t>
                      </a:r>
                      <a:endParaRPr dirty="0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4964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9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30200" rtl="0">
                        <a:lnSpc>
                          <a:spcPts val="591"/>
                        </a:lnSpc>
                        <a:spcBef>
                          <a:spcPts val="3"/>
                        </a:spcBef>
                      </a:pPr>
                      <a:r>
                        <a:rPr dirty="0" sz="400" kern="0" spc="3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endParaRPr dirty="0" sz="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7000"/>
                        </a:lnSpc>
                      </a:pPr>
                      <a:endParaRPr dirty="0" sz="3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68275" rtl="0">
                        <a:lnSpc>
                          <a:spcPts val="1912"/>
                        </a:lnSpc>
                        <a:spcBef>
                          <a:spcPts val="2"/>
                        </a:spcBef>
                      </a:pPr>
                      <a:r>
                        <a:rPr dirty="0" sz="15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Attendance</a:t>
                      </a:r>
                      <a:r>
                        <a:rPr dirty="0" sz="1500" kern="0" spc="1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5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dirty="0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09725">
                <a:tc>
                  <a:txBody>
                    <a:bodyPr/>
                    <a:p>
                      <a:pPr algn="l" eaLnBrk="0" rtl="0">
                        <a:lnSpc>
                          <a:spcPct val="115000"/>
                        </a:lnSpc>
                      </a:pPr>
                      <a:endParaRPr dirty="0" sz="6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330200" rtl="0">
                        <a:lnSpc>
                          <a:spcPts val="591"/>
                        </a:lnSpc>
                        <a:spcBef>
                          <a:spcPts val="5"/>
                        </a:spcBef>
                      </a:pPr>
                      <a:r>
                        <a:rPr dirty="0" sz="400" kern="0" spc="3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endParaRPr dirty="0" sz="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4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84150" rtl="0">
                        <a:lnSpc>
                          <a:spcPct val="90000"/>
                        </a:lnSpc>
                        <a:spcBef>
                          <a:spcPts val="4"/>
                        </a:spcBef>
                      </a:pPr>
                      <a:r>
                        <a:rPr dirty="0" sz="14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Fee</a:t>
                      </a:r>
                      <a:r>
                        <a:rPr dirty="0" sz="14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4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Management</a:t>
                      </a:r>
                      <a:endParaRPr dirty="0"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598" name="path 82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rect 84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DED3B9">
              <a:alpha val="2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graphicFrame>
        <p:nvGraphicFramePr>
          <p:cNvPr id="4194317" name="table 86"/>
          <p:cNvGraphicFramePr>
            <a:graphicFrameLocks noGrp="1"/>
          </p:cNvGraphicFramePr>
          <p:nvPr/>
        </p:nvGraphicFramePr>
        <p:xfrm>
          <a:off x="0" y="0"/>
          <a:ext cx="9144000" cy="5143498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1092835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</a:tcPr>
                </a:tc>
              </a:tr>
              <a:tr h="3672204">
                <a:tc>
                  <a:txBody>
                    <a:bodyPr/>
                    <a:p>
                      <a:pPr algn="l" eaLnBrk="0" rtl="0">
                        <a:lnSpc>
                          <a:spcPct val="15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7073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69644" rtl="0">
                        <a:lnSpc>
                          <a:spcPct val="79000"/>
                        </a:lnSpc>
                      </a:pPr>
                      <a:r>
                        <a:rPr dirty="0" sz="1900" kern="0" spc="-1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-26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Management Module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69644" rtl="0">
                        <a:lnSpc>
                          <a:spcPct val="79000"/>
                        </a:lnSpc>
                        <a:spcBef>
                          <a:spcPts val="1255"/>
                        </a:spcBef>
                      </a:pPr>
                      <a:r>
                        <a:rPr dirty="0" sz="1900" kern="0" spc="-1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-39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Teacher Management Mo</a:t>
                      </a:r>
                      <a:r>
                        <a:rPr dirty="0" sz="26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dule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69644" rtl="0">
                        <a:lnSpc>
                          <a:spcPct val="85000"/>
                        </a:lnSpc>
                        <a:spcBef>
                          <a:spcPts val="1250"/>
                        </a:spcBef>
                      </a:pPr>
                      <a:r>
                        <a:rPr dirty="0" sz="1900" kern="0" spc="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-46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Attendance M</a:t>
                      </a:r>
                      <a:r>
                        <a:rPr dirty="0" sz="26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odule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marL="969644" rtl="0">
                        <a:lnSpc>
                          <a:spcPct val="85000"/>
                        </a:lnSpc>
                        <a:spcBef>
                          <a:spcPts val="1068"/>
                        </a:spcBef>
                      </a:pPr>
                      <a:r>
                        <a:rPr dirty="0" sz="1900" kern="0" spc="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-42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Examination &amp; R</a:t>
                      </a:r>
                      <a:r>
                        <a:rPr dirty="0" sz="26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esult Module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eaLnBrk="0" rtl="0">
                        <a:lnSpc>
                          <a:spcPct val="111000"/>
                        </a:lnSpc>
                      </a:pPr>
                      <a:endParaRPr dirty="0" sz="8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6492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969644" rtl="0">
                        <a:lnSpc>
                          <a:spcPct val="79000"/>
                        </a:lnSpc>
                      </a:pPr>
                      <a:r>
                        <a:rPr dirty="0" sz="1900" kern="0" spc="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dirty="0" sz="1900" kern="0" spc="-430">
                          <a:solidFill>
                            <a:srgbClr val="727CA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dirty="0" sz="26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Fee Managemen</a:t>
                      </a:r>
                      <a:r>
                        <a:rPr dirty="0" sz="26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 Module</a:t>
                      </a:r>
                      <a:endParaRPr dirty="0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59">
                <a:tc>
                  <a:txBody>
                    <a:bodyPr/>
                    <a:p>
                      <a:pPr algn="l" eaLnBrk="0" rtl="0">
                        <a:lnSpc>
                          <a:spcPct val="114000"/>
                        </a:lnSpc>
                      </a:pPr>
                      <a:endParaRPr dirty="0" sz="5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574040" rtl="0">
                        <a:lnSpc>
                          <a:spcPct val="82000"/>
                        </a:lnSpc>
                        <a:spcBef>
                          <a:spcPts val="5"/>
                        </a:spcBef>
                        <a:tabLst>
                          <a:tab algn="l" pos="709930"/>
                        </a:tabLst>
                      </a:pPr>
                      <a:r>
                        <a:rPr dirty="0" sz="13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r>
                        <a:rPr baseline="-7441" dirty="0" sz="21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  <a:r>
                        <a:rPr dirty="0" sz="13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                               </a:t>
                      </a:r>
                      <a:r>
                        <a:rPr dirty="0" sz="12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EGB1122 – PYTHON PROGRAMM</a:t>
                      </a:r>
                      <a:r>
                        <a:rPr dirty="0" sz="1200" kern="0" spc="-1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ING –PROJECT REVIEW</a:t>
                      </a:r>
                      <a:r>
                        <a:rPr dirty="0" sz="1200" kern="0" spc="12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1200" kern="0" spc="-1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dirty="0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600" name="path 88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sp>
        <p:nvSpPr>
          <p:cNvPr id="1048601" name="textbox 90"/>
          <p:cNvSpPr/>
          <p:nvPr/>
        </p:nvSpPr>
        <p:spPr>
          <a:xfrm>
            <a:off x="457200" y="114300"/>
            <a:ext cx="8229600" cy="748030"/>
          </a:xfrm>
          <a:prstGeom prst="rect"/>
          <a:solidFill>
            <a:srgbClr val="94BA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2767329" rtl="0">
              <a:lnSpc>
                <a:spcPct val="77000"/>
              </a:lnSpc>
              <a:spcBef>
                <a:spcPts val="5"/>
              </a:spcBef>
            </a:pPr>
            <a:r>
              <a:rPr b="1" dirty="0" sz="3200" kern="0" spc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List</a:t>
            </a:r>
            <a:r>
              <a:rPr b="1" dirty="0" sz="3200" kern="0" spc="8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 dirty="0" sz="3200" kern="0" spc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b="1" dirty="0" sz="3200" kern="0" spc="-18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 dirty="0" sz="3200" kern="0" spc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Modules</a:t>
            </a:r>
            <a:endParaRPr dirty="0" sz="320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rect 92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DED3B9">
              <a:alpha val="2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graphicFrame>
        <p:nvGraphicFramePr>
          <p:cNvPr id="4194318" name="table 94"/>
          <p:cNvGraphicFramePr>
            <a:graphicFrameLocks noGrp="1"/>
          </p:cNvGraphicFramePr>
          <p:nvPr/>
        </p:nvGraphicFramePr>
        <p:xfrm>
          <a:off x="761" y="761"/>
          <a:ext cx="9142095" cy="5141594"/>
        </p:xfrm>
        <a:graphic>
          <a:graphicData uri="http://schemas.openxmlformats.org/drawingml/2006/table">
            <a:tbl>
              <a:tblPr/>
              <a:tblGrid>
                <a:gridCol w="573405"/>
                <a:gridCol w="8568690"/>
              </a:tblGrid>
              <a:tr h="856615">
                <a:tc gridSpan="2"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4979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eaLnBrk="0" rtl="0">
                        <a:lnSpc>
                          <a:spcPct val="10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8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9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9744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33069" rtl="0">
                        <a:lnSpc>
                          <a:spcPts val="1509"/>
                        </a:lnSpc>
                      </a:pPr>
                      <a:r>
                        <a:rPr b="1" dirty="0" sz="12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</a:t>
                      </a:r>
                      <a:r>
                        <a:rPr b="1" dirty="0" sz="12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b="1" dirty="0" sz="12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Student</a:t>
                      </a:r>
                      <a:r>
                        <a:rPr b="1" dirty="0" sz="1200" kern="0" spc="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b="1" dirty="0" sz="12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</a:t>
                      </a:r>
                      <a:r>
                        <a:rPr b="1" dirty="0" sz="12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gement</a:t>
                      </a:r>
                      <a:r>
                        <a:rPr b="1" dirty="0" sz="1200" kern="0" spc="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b="1" dirty="0" sz="12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dirty="0" sz="12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14019" rtl="0">
                        <a:lnSpc>
                          <a:spcPts val="1426"/>
                        </a:lnSpc>
                        <a:spcBef>
                          <a:spcPts val="957"/>
                        </a:spcBef>
                      </a:pP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Manages</a:t>
                      </a:r>
                      <a:r>
                        <a:rPr dirty="0" sz="11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student</a:t>
                      </a:r>
                      <a:r>
                        <a:rPr dirty="0" sz="1100" kern="0" spc="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  <a:r>
                        <a:rPr dirty="0" sz="11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includ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ing adding, editing,</a:t>
                      </a:r>
                      <a:r>
                        <a:rPr dirty="0" sz="1100" kern="0" spc="-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viewing,</a:t>
                      </a:r>
                      <a:r>
                        <a:rPr dirty="0" sz="1100" kern="0" spc="-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dirty="0" sz="11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deleting</a:t>
                      </a:r>
                      <a:r>
                        <a:rPr dirty="0" sz="11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student</a:t>
                      </a:r>
                      <a:r>
                        <a:rPr dirty="0" sz="11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information.</a:t>
                      </a:r>
                      <a:endParaRPr dirty="0" sz="1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10844" rtl="0">
                        <a:lnSpc>
                          <a:spcPts val="1497"/>
                        </a:lnSpc>
                      </a:pPr>
                      <a:r>
                        <a:rPr b="1" dirty="0" sz="12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2.Teacher</a:t>
                      </a:r>
                      <a:r>
                        <a:rPr b="1" dirty="0" sz="12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b="1" dirty="0" sz="12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Management</a:t>
                      </a:r>
                      <a:r>
                        <a:rPr b="1" dirty="0" sz="1200" kern="0" spc="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b="1" dirty="0" sz="12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dirty="0" sz="12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14019" rtl="0">
                        <a:lnSpc>
                          <a:spcPts val="1426"/>
                        </a:lnSpc>
                        <a:spcBef>
                          <a:spcPts val="957"/>
                        </a:spcBef>
                      </a:pP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Handles teacher</a:t>
                      </a:r>
                      <a:r>
                        <a:rPr dirty="0" sz="1100" kern="0" spc="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profiles, subject assignm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ents,</a:t>
                      </a:r>
                      <a:r>
                        <a:rPr dirty="0" sz="1100" kern="0" spc="-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dirty="0" sz="11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updates to their teaching</a:t>
                      </a:r>
                      <a:r>
                        <a:rPr dirty="0" sz="11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details.</a:t>
                      </a:r>
                      <a:endParaRPr dirty="0" sz="1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11480" rtl="0">
                        <a:lnSpc>
                          <a:spcPts val="1497"/>
                        </a:lnSpc>
                      </a:pPr>
                      <a:r>
                        <a:rPr b="1" dirty="0" sz="12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3.Attendance</a:t>
                      </a:r>
                      <a:r>
                        <a:rPr b="1" dirty="0" sz="1200" kern="0" spc="1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b="1" dirty="0" sz="12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dirty="0" sz="12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05129" rtl="0">
                        <a:lnSpc>
                          <a:spcPts val="1426"/>
                        </a:lnSpc>
                        <a:spcBef>
                          <a:spcPts val="957"/>
                        </a:spcBef>
                      </a:pP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Tracks</a:t>
                      </a:r>
                      <a:r>
                        <a:rPr dirty="0" sz="11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daily attendance</a:t>
                      </a:r>
                      <a:r>
                        <a:rPr dirty="0" sz="1100" kern="0" spc="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 students and generates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attendance</a:t>
                      </a:r>
                      <a:r>
                        <a:rPr dirty="0" sz="1100" kern="0" spc="1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reports</a:t>
                      </a:r>
                      <a:r>
                        <a:rPr dirty="0" sz="1100" kern="0" spc="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for</a:t>
                      </a:r>
                      <a:r>
                        <a:rPr dirty="0" sz="1100" kern="0" spc="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analysis.</a:t>
                      </a:r>
                      <a:endParaRPr dirty="0" sz="1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08940" rtl="0">
                        <a:lnSpc>
                          <a:spcPts val="1497"/>
                        </a:lnSpc>
                      </a:pPr>
                      <a:r>
                        <a:rPr b="1" dirty="0" sz="12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4. Examination &amp;</a:t>
                      </a:r>
                      <a:r>
                        <a:rPr b="1" dirty="0" sz="12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b="1" dirty="0" sz="12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Resu</a:t>
                      </a:r>
                      <a:r>
                        <a:rPr b="1" dirty="0" sz="12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lt</a:t>
                      </a:r>
                      <a:r>
                        <a:rPr b="1" dirty="0" sz="1200" kern="0" spc="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b="1" dirty="0" sz="12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dirty="0" sz="12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10209" rtl="0">
                        <a:lnSpc>
                          <a:spcPts val="1426"/>
                        </a:lnSpc>
                        <a:spcBef>
                          <a:spcPts val="957"/>
                        </a:spcBef>
                      </a:pP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Conducts</a:t>
                      </a:r>
                      <a:r>
                        <a:rPr dirty="0" sz="1100" kern="0" spc="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exam</a:t>
                      </a:r>
                      <a:r>
                        <a:rPr dirty="0" sz="11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scheduling, records</a:t>
                      </a:r>
                      <a:r>
                        <a:rPr dirty="0" sz="11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marks,</a:t>
                      </a:r>
                      <a:r>
                        <a:rPr dirty="0" sz="1100" kern="0" spc="-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generat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  <a:r>
                        <a:rPr dirty="0" sz="1100" kern="0" spc="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report</a:t>
                      </a:r>
                      <a:r>
                        <a:rPr dirty="0" sz="11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cards</a:t>
                      </a:r>
                      <a:r>
                        <a:rPr dirty="0" sz="1100" kern="0" spc="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  <a:r>
                        <a:rPr dirty="0" sz="1100" kern="0" spc="1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  <a:r>
                        <a:rPr dirty="0" sz="11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summaries.</a:t>
                      </a:r>
                      <a:endParaRPr dirty="0" sz="1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12750" rtl="0">
                        <a:lnSpc>
                          <a:spcPts val="1497"/>
                        </a:lnSpc>
                      </a:pPr>
                      <a:r>
                        <a:rPr b="1" dirty="0" sz="12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5. Fee</a:t>
                      </a:r>
                      <a:r>
                        <a:rPr b="1" dirty="0" sz="12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b="1" dirty="0" sz="12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</a:t>
                      </a:r>
                      <a:r>
                        <a:rPr b="1" dirty="0" sz="12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agement</a:t>
                      </a:r>
                      <a:r>
                        <a:rPr b="1" dirty="0" sz="1200" kern="0" spc="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b="1" dirty="0" sz="12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dirty="0" sz="12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7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6408"/>
                        </a:lnSpc>
                      </a:pPr>
                      <a:endParaRPr dirty="0" sz="1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414019" rtl="0">
                        <a:lnSpc>
                          <a:spcPts val="1438"/>
                        </a:lnSpc>
                      </a:pP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Manages</a:t>
                      </a:r>
                      <a:r>
                        <a:rPr dirty="0" sz="1100" kern="0" spc="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student fee</a:t>
                      </a:r>
                      <a:r>
                        <a:rPr dirty="0" sz="11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payments,</a:t>
                      </a:r>
                      <a:r>
                        <a:rPr dirty="0" sz="1100" kern="0" spc="-9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tracks</a:t>
                      </a:r>
                      <a:r>
                        <a:rPr dirty="0" sz="1100" kern="0" spc="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due</a:t>
                      </a:r>
                      <a:r>
                        <a:rPr dirty="0" sz="1100" kern="0" spc="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amounts, and generate</a:t>
                      </a:r>
                      <a:r>
                        <a:rPr dirty="0" sz="11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dirty="0" sz="11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invoices</a:t>
                      </a:r>
                      <a:r>
                        <a:rPr dirty="0" sz="1100" kern="0" spc="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  <a:r>
                        <a:rPr dirty="0" sz="1100" kern="0" spc="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1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receipts.</a:t>
                      </a:r>
                      <a:endParaRPr dirty="0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603" name="textbox 96"/>
          <p:cNvSpPr/>
          <p:nvPr/>
        </p:nvSpPr>
        <p:spPr>
          <a:xfrm>
            <a:off x="457200" y="114300"/>
            <a:ext cx="8229600" cy="742950"/>
          </a:xfrm>
          <a:prstGeom prst="rect"/>
          <a:solidFill>
            <a:srgbClr val="94BA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2099310" rtl="0">
              <a:lnSpc>
                <a:spcPct val="77000"/>
              </a:lnSpc>
              <a:spcBef>
                <a:spcPts val="5"/>
              </a:spcBef>
            </a:pPr>
            <a:r>
              <a:rPr b="1" dirty="0" sz="3200" kern="0" spc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Description</a:t>
            </a:r>
            <a:r>
              <a:rPr b="1" dirty="0" sz="3200" kern="0" spc="8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 dirty="0" sz="3200" kern="0" spc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b="1" dirty="0" sz="3200" kern="0" spc="-18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 dirty="0" sz="3200" kern="0" spc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Modules</a:t>
            </a:r>
            <a:endParaRPr dirty="0" sz="3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097157" name="picture 9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457200" y="4760112"/>
            <a:ext cx="8229600" cy="9525"/>
          </a:xfrm>
          <a:prstGeom prst="rect"/>
        </p:spPr>
      </p:pic>
      <p:sp>
        <p:nvSpPr>
          <p:cNvPr id="1048604" name="path 100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 102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DED3B9">
              <a:alpha val="2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graphicFrame>
        <p:nvGraphicFramePr>
          <p:cNvPr id="4194319" name="table 104"/>
          <p:cNvGraphicFramePr>
            <a:graphicFrameLocks noGrp="1"/>
          </p:cNvGraphicFramePr>
          <p:nvPr/>
        </p:nvGraphicFramePr>
        <p:xfrm>
          <a:off x="0" y="0"/>
          <a:ext cx="9144000" cy="5142863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916939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</a:tcPr>
                </a:tc>
              </a:tr>
              <a:tr h="3847465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59">
                <a:tc>
                  <a:txBody>
                    <a:bodyPr/>
                    <a:p>
                      <a:pPr algn="l" eaLnBrk="0" rtl="0">
                        <a:lnSpc>
                          <a:spcPct val="113000"/>
                        </a:lnSpc>
                      </a:pPr>
                      <a:endParaRPr dirty="0" sz="5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574040" rtl="0">
                        <a:lnSpc>
                          <a:spcPct val="82000"/>
                        </a:lnSpc>
                        <a:spcBef>
                          <a:spcPts val="6"/>
                        </a:spcBef>
                        <a:tabLst>
                          <a:tab algn="l" pos="739775"/>
                        </a:tabLst>
                      </a:pPr>
                      <a:r>
                        <a:rPr dirty="0" sz="13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r>
                        <a:rPr baseline="-7441" dirty="0" sz="21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  <a:r>
                        <a:rPr dirty="0" sz="13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             </a:t>
                      </a:r>
                      <a:r>
                        <a:rPr dirty="0" sz="1300" kern="0" spc="-1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</a:t>
                      </a:r>
                      <a:r>
                        <a:rPr dirty="0" sz="1200" kern="0" spc="-1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EGB1122 – PYTHON PROGRAMMING –PROJECT REVIEW</a:t>
                      </a:r>
                      <a:r>
                        <a:rPr dirty="0" sz="1200" kern="0" spc="11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1200" kern="0" spc="-1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dirty="0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606" name="path 106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sp>
        <p:nvSpPr>
          <p:cNvPr id="1048607" name="textbox 110"/>
          <p:cNvSpPr/>
          <p:nvPr/>
        </p:nvSpPr>
        <p:spPr>
          <a:xfrm>
            <a:off x="457200" y="114300"/>
            <a:ext cx="8229600" cy="748030"/>
          </a:xfrm>
          <a:prstGeom prst="rect"/>
          <a:solidFill>
            <a:srgbClr val="94BA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04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4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3569334" rtl="0">
              <a:lnSpc>
                <a:spcPct val="76000"/>
              </a:lnSpc>
              <a:spcBef>
                <a:spcPts val="7"/>
              </a:spcBef>
            </a:pPr>
            <a:r>
              <a:rPr b="1" dirty="0" sz="3200" kern="0" spc="-2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Result</a:t>
            </a:r>
            <a:endParaRPr dirty="0" sz="3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097158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804647" y="976630"/>
            <a:ext cx="4109253" cy="3646170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rect 112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DED3B9">
              <a:alpha val="2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graphicFrame>
        <p:nvGraphicFramePr>
          <p:cNvPr id="4194320" name="table 114"/>
          <p:cNvGraphicFramePr>
            <a:graphicFrameLocks noGrp="1"/>
          </p:cNvGraphicFramePr>
          <p:nvPr/>
        </p:nvGraphicFramePr>
        <p:xfrm>
          <a:off x="0" y="0"/>
          <a:ext cx="9144000" cy="5143498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1368425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</a:tcPr>
                </a:tc>
              </a:tr>
              <a:tr h="3396614">
                <a:tc>
                  <a:txBody>
                    <a:bodyPr/>
                    <a:p>
                      <a:pPr algn="l" eaLnBrk="0" rtl="0">
                        <a:lnSpc>
                          <a:spcPct val="11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11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086485" rtl="0">
                        <a:lnSpc>
                          <a:spcPts val="2401"/>
                        </a:lnSpc>
                        <a:spcBef>
                          <a:spcPts val="3"/>
                        </a:spcBef>
                      </a:pPr>
                      <a:r>
                        <a:rPr dirty="0" sz="1900" kern="0" spc="-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dirty="0" sz="1900" kern="0" spc="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School</a:t>
                      </a:r>
                      <a:r>
                        <a:rPr dirty="0" sz="1900" kern="0" spc="1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Management</a:t>
                      </a:r>
                      <a:r>
                        <a:rPr dirty="0" sz="19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  <a:r>
                        <a:rPr dirty="0" sz="1900" kern="0" spc="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developed</a:t>
                      </a:r>
                      <a:r>
                        <a:rPr dirty="0" sz="1900" kern="0" spc="1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dirty="0" sz="19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Python</a:t>
                      </a:r>
                      <a:r>
                        <a:rPr dirty="0" sz="1900" kern="0" spc="1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provides an</a:t>
                      </a:r>
                      <a:endParaRPr dirty="0" sz="19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indent="3175" marL="1089025" rtl="0">
                        <a:lnSpc>
                          <a:spcPct val="105000"/>
                        </a:lnSpc>
                        <a:spcBef>
                          <a:spcPts val="19"/>
                        </a:spcBef>
                      </a:pPr>
                      <a:r>
                        <a:rPr dirty="0" sz="1900" kern="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efficient way t</a:t>
                      </a:r>
                      <a:r>
                        <a:rPr dirty="0" sz="19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dirty="0" sz="1900" kern="0" spc="1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manage</a:t>
                      </a:r>
                      <a:r>
                        <a:rPr dirty="0" sz="1900" kern="0" spc="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school operations</a:t>
                      </a:r>
                      <a:r>
                        <a:rPr dirty="0" sz="1900" kern="0" spc="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digitally.With</a:t>
                      </a:r>
                      <a:r>
                        <a:rPr dirty="0" sz="1900" kern="0" spc="1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modules for</a:t>
                      </a:r>
                      <a:r>
                        <a:rPr dirty="0" sz="19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</a:t>
                      </a:r>
                      <a:r>
                        <a:rPr dirty="0" sz="19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student and teacher</a:t>
                      </a:r>
                      <a:r>
                        <a:rPr dirty="0" sz="1900" kern="0" spc="1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manageme</a:t>
                      </a:r>
                      <a:r>
                        <a:rPr dirty="0" sz="1900" kern="0" spc="-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nt,</a:t>
                      </a:r>
                      <a:r>
                        <a:rPr dirty="0" sz="1900" kern="0" spc="-12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attendance tracking, examination</a:t>
                      </a:r>
                      <a:r>
                        <a:rPr dirty="0" sz="1900" kern="0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  </a:t>
                      </a:r>
                      <a:r>
                        <a:rPr dirty="0" sz="1900" kern="0" spc="-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dirty="0" sz="1900" kern="0" spc="1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  <a:r>
                        <a:rPr dirty="0" sz="1900" kern="0" spc="1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processing, and fee</a:t>
                      </a:r>
                      <a:r>
                        <a:rPr dirty="0" sz="1900" kern="0" spc="1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7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manag</a:t>
                      </a:r>
                      <a:r>
                        <a:rPr dirty="0" sz="19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ement,</a:t>
                      </a:r>
                      <a:r>
                        <a:rPr dirty="0" sz="1900" kern="0" spc="-1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dirty="0" sz="1900" kern="0" spc="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  <a:r>
                        <a:rPr dirty="0" sz="1900" kern="0" spc="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8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simplifies</a:t>
                      </a:r>
                      <a:endParaRPr dirty="0" sz="19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1089025" rtl="0">
                        <a:lnSpc>
                          <a:spcPts val="2401"/>
                        </a:lnSpc>
                      </a:pPr>
                      <a:r>
                        <a:rPr dirty="0" sz="19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administrative tasks and</a:t>
                      </a:r>
                      <a:r>
                        <a:rPr dirty="0" sz="1900" kern="0" spc="1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5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reduces</a:t>
                      </a:r>
                      <a:r>
                        <a:rPr dirty="0" sz="1900" kern="0" spc="14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manual</a:t>
                      </a:r>
                      <a:r>
                        <a:rPr dirty="0" sz="1900" kern="0" spc="11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dirty="0" sz="1900" kern="0" spc="-6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effort.</a:t>
                      </a:r>
                      <a:endParaRPr dirty="0" sz="1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59">
                <a:tc>
                  <a:txBody>
                    <a:bodyPr/>
                    <a:p>
                      <a:pPr algn="l" eaLnBrk="0" rtl="0">
                        <a:lnSpc>
                          <a:spcPct val="100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FB8C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609" name="textbox 116"/>
          <p:cNvSpPr/>
          <p:nvPr/>
        </p:nvSpPr>
        <p:spPr>
          <a:xfrm>
            <a:off x="457200" y="114300"/>
            <a:ext cx="8229600" cy="748030"/>
          </a:xfrm>
          <a:prstGeom prst="rect"/>
          <a:solidFill>
            <a:srgbClr val="94BA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02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103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marL="3159125" rtl="0">
              <a:lnSpc>
                <a:spcPct val="77000"/>
              </a:lnSpc>
              <a:spcBef>
                <a:spcPts val="3"/>
              </a:spcBef>
            </a:pPr>
            <a:r>
              <a:rPr b="1" dirty="0" sz="3200" kern="0" spc="-2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endParaRPr dirty="0"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48610" name="path 118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21" name="table 120"/>
          <p:cNvGraphicFramePr>
            <a:graphicFrameLocks noGrp="1"/>
          </p:cNvGraphicFramePr>
          <p:nvPr/>
        </p:nvGraphicFramePr>
        <p:xfrm>
          <a:off x="0" y="0"/>
          <a:ext cx="9144000" cy="5140325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5140325">
                <a:tc>
                  <a:txBody>
                    <a:bodyPr/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2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rtl="0">
                        <a:lnSpc>
                          <a:spcPct val="103000"/>
                        </a:lnSpc>
                      </a:pPr>
                      <a:endParaRPr dirty="0" sz="10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eaLnBrk="0" marL="574040" rtl="0">
                        <a:lnSpc>
                          <a:spcPct val="82000"/>
                        </a:lnSpc>
                        <a:spcBef>
                          <a:spcPts val="4"/>
                        </a:spcBef>
                        <a:tabLst>
                          <a:tab algn="l" pos="739775"/>
                        </a:tabLst>
                      </a:pPr>
                      <a:r>
                        <a:rPr dirty="0" sz="13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r>
                        <a:rPr baseline="-7441" dirty="0" sz="21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  <a:r>
                        <a:rPr dirty="0" sz="1300" kern="0" spc="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</a:t>
                      </a:r>
                      <a:r>
                        <a:rPr dirty="0" sz="1300" kern="0" spc="-10">
                          <a:solidFill>
                            <a:srgbClr val="46465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           </a:t>
                      </a:r>
                      <a:r>
                        <a:rPr dirty="0" sz="1200" kern="0" spc="-1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EGB1122 – PYTHON PROGRAMMING –PROJECT REVIEW</a:t>
                      </a:r>
                      <a:r>
                        <a:rPr dirty="0" sz="1200" kern="0" spc="11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dirty="0" sz="1200" kern="0" spc="-10">
                          <a:solidFill>
                            <a:srgbClr val="464653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dirty="0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1048611" name="path 122"/>
          <p:cNvSpPr/>
          <p:nvPr/>
        </p:nvSpPr>
        <p:spPr>
          <a:xfrm>
            <a:off x="454152" y="4823459"/>
            <a:ext cx="120395" cy="143255"/>
          </a:xfrm>
          <a:custGeom>
            <a:avLst/>
            <a:ahLst/>
            <a:rect l="0" t="0" r="0" b="0"/>
            <a:pathLst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  <a:path w="189" h="225">
                <a:moveTo>
                  <a:pt x="0" y="0"/>
                </a:moveTo>
                <a:lnTo>
                  <a:pt x="189" y="112"/>
                </a:lnTo>
                <a:lnTo>
                  <a:pt x="0" y="225"/>
                </a:lnTo>
                <a:lnTo>
                  <a:pt x="0" y="0"/>
                </a:lnTo>
              </a:path>
            </a:pathLst>
          </a:custGeom>
          <a:solidFill>
            <a:srgbClr val="9FB8C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altLang="en-US" lang="zh-CN"/>
          </a:p>
        </p:txBody>
      </p:sp>
      <p:sp>
        <p:nvSpPr>
          <p:cNvPr id="1048612" name="textbox 124"/>
          <p:cNvSpPr/>
          <p:nvPr/>
        </p:nvSpPr>
        <p:spPr>
          <a:xfrm>
            <a:off x="457200" y="171450"/>
            <a:ext cx="8229600" cy="690880"/>
          </a:xfrm>
          <a:prstGeom prst="rect"/>
          <a:solidFill>
            <a:srgbClr val="94BA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bIns="0" lIns="0" rIns="0" tIns="0" vert="horz" wrap="square"/>
          <a:p>
            <a:pPr algn="l" eaLnBrk="0" rtl="0">
              <a:lnSpc>
                <a:spcPct val="110000"/>
              </a:lnSpc>
            </a:pPr>
            <a:endParaRPr dirty="0" sz="1000">
              <a:latin typeface="Arial"/>
              <a:ea typeface="Arial"/>
              <a:cs typeface="Arial"/>
            </a:endParaRPr>
          </a:p>
          <a:p>
            <a:pPr algn="l" eaLnBrk="0" rtl="0">
              <a:lnSpc>
                <a:spcPct val="9495"/>
              </a:lnSpc>
            </a:pPr>
            <a:endParaRPr dirty="0" sz="100">
              <a:latin typeface="Arial"/>
              <a:ea typeface="Arial"/>
              <a:cs typeface="Arial"/>
            </a:endParaRPr>
          </a:p>
          <a:p>
            <a:pPr algn="l" eaLnBrk="0" marL="2870835" rtl="0">
              <a:lnSpc>
                <a:spcPct val="77000"/>
              </a:lnSpc>
            </a:pPr>
            <a:r>
              <a:rPr b="1" dirty="0" sz="3900" kern="0" spc="-3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Thank</a:t>
            </a:r>
            <a:r>
              <a:rPr b="1" dirty="0" sz="3900" kern="0" spc="95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 dirty="0" sz="3900" kern="0" spc="-3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You</a:t>
            </a:r>
            <a:endParaRPr dirty="0" sz="39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097159" name="picture 12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457200" y="4760112"/>
            <a:ext cx="8229600" cy="9525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Dharaneeshwaran</dc:creator>
  <cp:lastModifiedBy>dharaneeshwaranaruchamy@outlook.com</cp:lastModifiedBy>
  <dcterms:created xsi:type="dcterms:W3CDTF">2025-06-08T08:43:30Z</dcterms:created>
  <dcterms:modified xsi:type="dcterms:W3CDTF">2025-06-11T07:24:41Z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2025-06-11T12:05:24Z</vt:filetime>
  </property>
  <property fmtid="{D5CDD505-2E9C-101B-9397-08002B2CF9AE}" pid="4" name="ICV">
    <vt:lpwstr>dee030cc827d4a9991da0cca63bf46de</vt:lpwstr>
  </property>
</Properties>
</file>